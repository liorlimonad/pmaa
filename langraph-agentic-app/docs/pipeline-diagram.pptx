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5486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11111"/>
                </a:solidFill>
              </a:rPr>
              <a:t>Process Mining &amp; Agentic Framework — High-Level Pipeline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3DF346-F14C-952C-D7B8-11B1D401C728}"/>
              </a:ext>
            </a:extLst>
          </p:cNvPr>
          <p:cNvGrpSpPr/>
          <p:nvPr/>
        </p:nvGrpSpPr>
        <p:grpSpPr>
          <a:xfrm>
            <a:off x="177744" y="782450"/>
            <a:ext cx="11833335" cy="4659507"/>
            <a:chOff x="177744" y="782450"/>
            <a:chExt cx="11833335" cy="465950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42C4179-85F6-FAAF-E3B7-80657AC5813A}"/>
                </a:ext>
              </a:extLst>
            </p:cNvPr>
            <p:cNvGrpSpPr/>
            <p:nvPr/>
          </p:nvGrpSpPr>
          <p:grpSpPr>
            <a:xfrm>
              <a:off x="177744" y="939627"/>
              <a:ext cx="11833335" cy="4502330"/>
              <a:chOff x="177744" y="939627"/>
              <a:chExt cx="11833335" cy="4502330"/>
            </a:xfrm>
          </p:grpSpPr>
          <p:sp>
            <p:nvSpPr>
              <p:cNvPr id="3" name="Rectangle 17">
                <a:extLst>
                  <a:ext uri="{FF2B5EF4-FFF2-40B4-BE49-F238E27FC236}">
                    <a16:creationId xmlns:a16="http://schemas.microsoft.com/office/drawing/2014/main" id="{9F930CA6-2F02-600E-1E63-FC95BF988EE8}"/>
                  </a:ext>
                </a:extLst>
              </p:cNvPr>
              <p:cNvSpPr/>
              <p:nvPr/>
            </p:nvSpPr>
            <p:spPr>
              <a:xfrm>
                <a:off x="6390009" y="939627"/>
                <a:ext cx="2017336" cy="3327484"/>
              </a:xfrm>
              <a:prstGeom prst="roundRect">
                <a:avLst>
                  <a:gd name="adj" fmla="val 598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t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Process Artifacts Mining</a:t>
                </a:r>
                <a:endParaRPr sz="1600" b="1" i="0" dirty="0">
                  <a:solidFill>
                    <a:srgbClr val="11111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32481" y="1203779"/>
                <a:ext cx="1426591" cy="830840"/>
              </a:xfrm>
              <a:prstGeom prst="can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Event Log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1" dirty="0" err="1">
                    <a:solidFill>
                      <a:srgbClr val="444444"/>
                    </a:solidFill>
                  </a:rPr>
                  <a:t>C</a:t>
                </a:r>
                <a:r>
                  <a:rPr sz="1200" b="0" i="1" dirty="0" err="1">
                    <a:solidFill>
                      <a:srgbClr val="444444"/>
                    </a:solidFill>
                  </a:rPr>
                  <a:t>ommitizen</a:t>
                </a:r>
                <a:r>
                  <a:rPr lang="en-US" sz="1200" b="0" i="1" dirty="0">
                    <a:solidFill>
                      <a:srgbClr val="444444"/>
                    </a:solidFill>
                  </a:rPr>
                  <a:t> </a:t>
                </a:r>
                <a:br>
                  <a:rPr lang="en-US" sz="1200" b="0" i="1" dirty="0">
                    <a:solidFill>
                      <a:srgbClr val="444444"/>
                    </a:solidFill>
                  </a:rPr>
                </a:br>
                <a:r>
                  <a:rPr lang="en-US" sz="1200" b="0" i="1" dirty="0" err="1">
                    <a:solidFill>
                      <a:srgbClr val="444444"/>
                    </a:solidFill>
                  </a:rPr>
                  <a:t>Github</a:t>
                </a:r>
                <a:r>
                  <a:rPr lang="en-US" sz="1200" b="0" i="1" dirty="0">
                    <a:solidFill>
                      <a:srgbClr val="444444"/>
                    </a:solidFill>
                  </a:rPr>
                  <a:t> repo</a:t>
                </a:r>
                <a:endParaRPr sz="1200" b="0" i="1" dirty="0">
                  <a:solidFill>
                    <a:srgbClr val="444444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052137" y="1348874"/>
                <a:ext cx="1481328" cy="548640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Role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Determination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935928" y="941461"/>
                <a:ext cx="2194560" cy="1624963"/>
              </a:xfrm>
              <a:prstGeom prst="flowChartDocumen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Roles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 err="1">
                    <a:solidFill>
                      <a:srgbClr val="444444"/>
                    </a:solidFill>
                  </a:rPr>
                  <a:t>issue_reporter</a:t>
                </a:r>
                <a:endParaRPr sz="1200" b="0" i="1" dirty="0">
                  <a:solidFill>
                    <a:srgbClr val="444444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>
                    <a:solidFill>
                      <a:srgbClr val="444444"/>
                    </a:solidFill>
                  </a:rPr>
                  <a:t>bot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1" dirty="0">
                    <a:solidFill>
                      <a:srgbClr val="444444"/>
                    </a:solidFill>
                  </a:rPr>
                  <a:t>C</a:t>
                </a:r>
                <a:r>
                  <a:rPr sz="1200" b="0" i="1" dirty="0">
                    <a:solidFill>
                      <a:srgbClr val="444444"/>
                    </a:solidFill>
                  </a:rPr>
                  <a:t>ontributor</a:t>
                </a:r>
                <a:r>
                  <a:rPr lang="en-US" sz="1200" b="0" i="1" dirty="0">
                    <a:solidFill>
                      <a:srgbClr val="444444"/>
                    </a:solidFill>
                  </a:rPr>
                  <a:t>,</a:t>
                </a:r>
                <a:r>
                  <a:rPr lang="en-US" sz="1200" i="1" dirty="0">
                    <a:solidFill>
                      <a:srgbClr val="444444"/>
                    </a:solidFill>
                  </a:rPr>
                  <a:t> </a:t>
                </a:r>
                <a:r>
                  <a:rPr sz="1200" b="0" i="1" dirty="0" err="1">
                    <a:solidFill>
                      <a:srgbClr val="444444"/>
                    </a:solidFill>
                  </a:rPr>
                  <a:t>feature_developer</a:t>
                </a:r>
                <a:r>
                  <a:rPr lang="en-US" sz="1200" i="1" dirty="0">
                    <a:solidFill>
                      <a:srgbClr val="444444"/>
                    </a:solidFill>
                  </a:rPr>
                  <a:t>, </a:t>
                </a:r>
                <a:r>
                  <a:rPr sz="1200" b="0" i="1" dirty="0" err="1">
                    <a:solidFill>
                      <a:srgbClr val="444444"/>
                    </a:solidFill>
                  </a:rPr>
                  <a:t>devops_engineer</a:t>
                </a:r>
                <a:endParaRPr sz="1200" b="0" i="1" dirty="0">
                  <a:solidFill>
                    <a:srgbClr val="444444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 err="1">
                    <a:solidFill>
                      <a:srgbClr val="444444"/>
                    </a:solidFill>
                  </a:rPr>
                  <a:t>quality_engineer</a:t>
                </a:r>
                <a:endParaRPr sz="1200" b="0" i="1" dirty="0">
                  <a:solidFill>
                    <a:srgbClr val="444444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 err="1">
                    <a:solidFill>
                      <a:srgbClr val="444444"/>
                    </a:solidFill>
                  </a:rPr>
                  <a:t>technical_writer</a:t>
                </a:r>
                <a:endParaRPr sz="1200" b="0" i="1" dirty="0">
                  <a:solidFill>
                    <a:srgbClr val="444444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085663" y="3286178"/>
                <a:ext cx="1481328" cy="548640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Log Split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>
                    <a:solidFill>
                      <a:srgbClr val="444444"/>
                    </a:solidFill>
                  </a:rPr>
                  <a:t>by Role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956459" y="3322754"/>
                <a:ext cx="1298448" cy="603504"/>
              </a:xfrm>
              <a:prstGeom prst="can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892451" y="3258746"/>
                <a:ext cx="1298448" cy="603504"/>
              </a:xfrm>
              <a:prstGeom prst="can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Log Partitions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>
                    <a:solidFill>
                      <a:srgbClr val="444444"/>
                    </a:solidFill>
                  </a:rPr>
                  <a:t>Role₁ … Roleₙ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537522" y="1508697"/>
                <a:ext cx="1737360" cy="658368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OCPM / BPMN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>
                    <a:solidFill>
                      <a:srgbClr val="444444"/>
                    </a:solidFill>
                  </a:rPr>
                  <a:t>Object-Centric &amp;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dirty="0">
                    <a:solidFill>
                      <a:srgbClr val="444444"/>
                    </a:solidFill>
                  </a:rPr>
                  <a:t>Process </a:t>
                </a:r>
                <a:r>
                  <a:rPr lang="en-US" sz="1200" b="0" i="1" dirty="0">
                    <a:solidFill>
                      <a:srgbClr val="444444"/>
                    </a:solidFill>
                  </a:rPr>
                  <a:t>Mining</a:t>
                </a:r>
                <a:endParaRPr sz="1200" b="0" i="1" dirty="0">
                  <a:solidFill>
                    <a:srgbClr val="444444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539479" y="3456343"/>
                <a:ext cx="1737360" cy="658368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Declarative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1" dirty="0">
                    <a:solidFill>
                      <a:srgbClr val="444444"/>
                    </a:solidFill>
                  </a:rPr>
                  <a:t>DECLARE</a:t>
                </a:r>
                <a:r>
                  <a:rPr sz="1200" b="0" i="1" dirty="0">
                    <a:solidFill>
                      <a:srgbClr val="444444"/>
                    </a:solidFill>
                  </a:rPr>
                  <a:t> Mining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6531261" y="2468791"/>
                <a:ext cx="1737360" cy="658368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LLM Process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Elicitation</a:t>
                </a:r>
                <a:endParaRPr sz="1600" b="1" i="0" dirty="0">
                  <a:solidFill>
                    <a:srgbClr val="11111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77744" y="4463549"/>
                <a:ext cx="11795760" cy="978408"/>
              </a:xfrm>
              <a:prstGeom prst="flowChartProcess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60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7472" y="4518412"/>
                <a:ext cx="11576304" cy="338554"/>
              </a:xfrm>
              <a:prstGeom prst="rect">
                <a:avLst/>
              </a:prstGeom>
              <a:solidFill>
                <a:schemeClr val="bg2"/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>
                    <a:solidFill>
                      <a:sysClr val="windowText" lastClr="000000"/>
                    </a:solidFill>
                  </a:rPr>
                  <a:t>Agentic Framework — </a:t>
                </a:r>
                <a:r>
                  <a:rPr sz="1600" b="1" i="0" dirty="0" err="1">
                    <a:solidFill>
                      <a:sysClr val="windowText" lastClr="000000"/>
                    </a:solidFill>
                  </a:rPr>
                  <a:t>LangGraph</a:t>
                </a:r>
                <a:r>
                  <a:rPr sz="1600" b="1" i="0" dirty="0">
                    <a:solidFill>
                      <a:sysClr val="windowText" lastClr="000000"/>
                    </a:solidFill>
                  </a:rPr>
                  <a:t> Application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314904" y="4875028"/>
                <a:ext cx="2084831" cy="407914"/>
              </a:xfrm>
              <a:prstGeom prst="roundRect">
                <a:avLst>
                  <a:gd name="adj" fmla="val 20000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Issue Reporter</a:t>
                </a:r>
                <a:r>
                  <a:rPr lang="en-US" sz="1600" b="1" i="0" dirty="0">
                    <a:solidFill>
                      <a:srgbClr val="111111"/>
                    </a:solidFill>
                  </a:rPr>
                  <a:t> </a:t>
                </a:r>
                <a:r>
                  <a:rPr sz="1600" b="1" i="0" dirty="0">
                    <a:solidFill>
                      <a:srgbClr val="111111"/>
                    </a:solidFill>
                  </a:rPr>
                  <a:t>Agent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674056" y="4875028"/>
                <a:ext cx="2084831" cy="407914"/>
              </a:xfrm>
              <a:prstGeom prst="roundRect">
                <a:avLst>
                  <a:gd name="adj" fmla="val 20000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Bot Workflow</a:t>
                </a:r>
                <a:r>
                  <a:rPr lang="en-US" sz="1600" b="1" i="0" dirty="0">
                    <a:solidFill>
                      <a:srgbClr val="111111"/>
                    </a:solidFill>
                  </a:rPr>
                  <a:t> </a:t>
                </a:r>
                <a:r>
                  <a:rPr sz="1600" b="1" i="0" dirty="0">
                    <a:solidFill>
                      <a:srgbClr val="111111"/>
                    </a:solidFill>
                  </a:rPr>
                  <a:t>Agent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5033208" y="4875028"/>
                <a:ext cx="2084831" cy="407914"/>
              </a:xfrm>
              <a:prstGeom prst="roundRect">
                <a:avLst>
                  <a:gd name="adj" fmla="val 20000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Implementation</a:t>
                </a:r>
                <a:r>
                  <a:rPr lang="en-US" sz="1600" b="1" i="0" dirty="0">
                    <a:solidFill>
                      <a:srgbClr val="111111"/>
                    </a:solidFill>
                  </a:rPr>
                  <a:t> </a:t>
                </a:r>
                <a:r>
                  <a:rPr sz="1600" b="1" i="0" dirty="0">
                    <a:solidFill>
                      <a:srgbClr val="111111"/>
                    </a:solidFill>
                  </a:rPr>
                  <a:t>Agent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392360" y="4875028"/>
                <a:ext cx="2084831" cy="407914"/>
              </a:xfrm>
              <a:prstGeom prst="roundRect">
                <a:avLst>
                  <a:gd name="adj" fmla="val 20000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Quality</a:t>
                </a:r>
                <a:r>
                  <a:rPr lang="en-US" sz="1600" b="1" i="0" dirty="0">
                    <a:solidFill>
                      <a:srgbClr val="111111"/>
                    </a:solidFill>
                  </a:rPr>
                  <a:t> </a:t>
                </a:r>
                <a:r>
                  <a:rPr sz="1600" b="1" i="0" dirty="0">
                    <a:solidFill>
                      <a:srgbClr val="111111"/>
                    </a:solidFill>
                  </a:rPr>
                  <a:t>Agent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9751513" y="4875028"/>
                <a:ext cx="2084831" cy="407914"/>
              </a:xfrm>
              <a:prstGeom prst="roundRect">
                <a:avLst>
                  <a:gd name="adj" fmla="val 20000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dirty="0">
                    <a:solidFill>
                      <a:srgbClr val="111111"/>
                    </a:solidFill>
                  </a:rPr>
                  <a:t>Technical Writer</a:t>
                </a:r>
                <a:r>
                  <a:rPr lang="en-US" sz="1600" b="1" i="0" dirty="0">
                    <a:solidFill>
                      <a:srgbClr val="111111"/>
                    </a:solidFill>
                  </a:rPr>
                  <a:t> </a:t>
                </a:r>
                <a:r>
                  <a:rPr sz="1600" b="1" i="0" dirty="0">
                    <a:solidFill>
                      <a:srgbClr val="111111"/>
                    </a:solidFill>
                  </a:rPr>
                  <a:t>Agent</a:t>
                </a:r>
              </a:p>
            </p:txBody>
          </p:sp>
          <p:cxnSp>
            <p:nvCxnSpPr>
              <p:cNvPr id="10034" name="arrow"/>
              <p:cNvCxnSpPr>
                <a:cxnSpLocks/>
                <a:stCxn id="5" idx="4"/>
                <a:endCxn id="7" idx="1"/>
              </p:cNvCxnSpPr>
              <p:nvPr/>
            </p:nvCxnSpPr>
            <p:spPr>
              <a:xfrm>
                <a:off x="1659072" y="1619199"/>
                <a:ext cx="393065" cy="39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35" name="arrow"/>
              <p:cNvCxnSpPr>
                <a:cxnSpLocks/>
                <a:stCxn id="5" idx="3"/>
                <a:endCxn id="11" idx="1"/>
              </p:cNvCxnSpPr>
              <p:nvPr/>
            </p:nvCxnSpPr>
            <p:spPr>
              <a:xfrm>
                <a:off x="945777" y="2034619"/>
                <a:ext cx="2139886" cy="15258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36" name="arrow"/>
              <p:cNvCxnSpPr>
                <a:cxnSpLocks/>
                <a:stCxn id="7" idx="3"/>
              </p:cNvCxnSpPr>
              <p:nvPr/>
            </p:nvCxnSpPr>
            <p:spPr>
              <a:xfrm flipV="1">
                <a:off x="3533465" y="1619199"/>
                <a:ext cx="402463" cy="39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37" name="arrow"/>
              <p:cNvCxnSpPr>
                <a:cxnSpLocks/>
                <a:stCxn id="9" idx="2"/>
                <a:endCxn id="11" idx="0"/>
              </p:cNvCxnSpPr>
              <p:nvPr/>
            </p:nvCxnSpPr>
            <p:spPr>
              <a:xfrm flipH="1">
                <a:off x="3826327" y="2458996"/>
                <a:ext cx="1206881" cy="8271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38" name="arrow"/>
              <p:cNvCxnSpPr>
                <a:cxnSpLocks/>
                <a:stCxn id="11" idx="3"/>
                <a:endCxn id="14" idx="2"/>
              </p:cNvCxnSpPr>
              <p:nvPr/>
            </p:nvCxnSpPr>
            <p:spPr>
              <a:xfrm>
                <a:off x="4566991" y="3560498"/>
                <a:ext cx="3254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39" name="arrow"/>
              <p:cNvCxnSpPr>
                <a:cxnSpLocks/>
                <a:stCxn id="14" idx="4"/>
                <a:endCxn id="16" idx="1"/>
              </p:cNvCxnSpPr>
              <p:nvPr/>
            </p:nvCxnSpPr>
            <p:spPr>
              <a:xfrm flipV="1">
                <a:off x="6190899" y="1837881"/>
                <a:ext cx="346623" cy="172261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40" name="arrow"/>
              <p:cNvCxnSpPr>
                <a:cxnSpLocks/>
                <a:stCxn id="14" idx="4"/>
                <a:endCxn id="18" idx="1"/>
              </p:cNvCxnSpPr>
              <p:nvPr/>
            </p:nvCxnSpPr>
            <p:spPr>
              <a:xfrm>
                <a:off x="6190899" y="3560498"/>
                <a:ext cx="348580" cy="2250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41" name="arrow"/>
              <p:cNvCxnSpPr>
                <a:cxnSpLocks/>
                <a:stCxn id="20" idx="3"/>
                <a:endCxn id="8" idx="1"/>
              </p:cNvCxnSpPr>
              <p:nvPr/>
            </p:nvCxnSpPr>
            <p:spPr>
              <a:xfrm>
                <a:off x="8268621" y="2797975"/>
                <a:ext cx="314681" cy="94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42" name="arrow"/>
              <p:cNvCxnSpPr>
                <a:cxnSpLocks/>
                <a:stCxn id="18" idx="3"/>
                <a:endCxn id="10" idx="1"/>
              </p:cNvCxnSpPr>
              <p:nvPr/>
            </p:nvCxnSpPr>
            <p:spPr>
              <a:xfrm>
                <a:off x="8276839" y="3785527"/>
                <a:ext cx="314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10044" name="arrow"/>
              <p:cNvCxnSpPr>
                <a:cxnSpLocks/>
                <a:stCxn id="10" idx="3"/>
              </p:cNvCxnSpPr>
              <p:nvPr/>
            </p:nvCxnSpPr>
            <p:spPr>
              <a:xfrm flipV="1">
                <a:off x="10014199" y="3134576"/>
                <a:ext cx="730702" cy="6509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sp>
            <p:nvSpPr>
              <p:cNvPr id="6" name="Rectangle 8">
                <a:extLst>
                  <a:ext uri="{FF2B5EF4-FFF2-40B4-BE49-F238E27FC236}">
                    <a16:creationId xmlns:a16="http://schemas.microsoft.com/office/drawing/2014/main" id="{8D2CAE1D-D42D-EFFE-ACF1-468241BE456A}"/>
                  </a:ext>
                </a:extLst>
              </p:cNvPr>
              <p:cNvSpPr/>
              <p:nvPr/>
            </p:nvSpPr>
            <p:spPr>
              <a:xfrm>
                <a:off x="8591520" y="1491566"/>
                <a:ext cx="1422679" cy="698396"/>
              </a:xfrm>
              <a:prstGeom prst="flowChartDocumen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OCPM / Process Models</a:t>
                </a:r>
                <a:endParaRPr sz="1600" b="1" i="0" dirty="0">
                  <a:solidFill>
                    <a:srgbClr val="111111"/>
                  </a:solidFill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B07DE1C5-5AAD-E9A4-B01A-BEC05BD8FD1D}"/>
                  </a:ext>
                </a:extLst>
              </p:cNvPr>
              <p:cNvSpPr/>
              <p:nvPr/>
            </p:nvSpPr>
            <p:spPr>
              <a:xfrm>
                <a:off x="8583302" y="2458252"/>
                <a:ext cx="1422679" cy="698396"/>
              </a:xfrm>
              <a:prstGeom prst="flowChartDocumen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Process Description </a:t>
                </a:r>
                <a:r>
                  <a:rPr lang="en-US" sz="1200" i="0" dirty="0">
                    <a:solidFill>
                      <a:srgbClr val="111111"/>
                    </a:solidFill>
                  </a:rPr>
                  <a:t>(</a:t>
                </a:r>
                <a:r>
                  <a:rPr lang="en-US" sz="1200" i="1" dirty="0">
                    <a:solidFill>
                      <a:srgbClr val="444444"/>
                    </a:solidFill>
                  </a:rPr>
                  <a:t>Markdown)</a:t>
                </a:r>
                <a:endParaRPr sz="1200" b="1" i="0" dirty="0">
                  <a:solidFill>
                    <a:srgbClr val="111111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774176F2-F55F-E95C-3870-AA67CF691AF0}"/>
                  </a:ext>
                </a:extLst>
              </p:cNvPr>
              <p:cNvSpPr/>
              <p:nvPr/>
            </p:nvSpPr>
            <p:spPr>
              <a:xfrm>
                <a:off x="8591520" y="3436329"/>
                <a:ext cx="1422679" cy="698396"/>
              </a:xfrm>
              <a:prstGeom prst="flowChartDocumen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DECLARE Constraints</a:t>
                </a:r>
                <a:endParaRPr sz="1200" b="1" i="0" dirty="0">
                  <a:solidFill>
                    <a:srgbClr val="111111"/>
                  </a:solidFill>
                </a:endParaRPr>
              </a:p>
            </p:txBody>
          </p:sp>
          <p:cxnSp>
            <p:nvCxnSpPr>
              <p:cNvPr id="15" name="arrow">
                <a:extLst>
                  <a:ext uri="{FF2B5EF4-FFF2-40B4-BE49-F238E27FC236}">
                    <a16:creationId xmlns:a16="http://schemas.microsoft.com/office/drawing/2014/main" id="{997F8365-9449-1182-5D8A-6DE7CFA15184}"/>
                  </a:ext>
                </a:extLst>
              </p:cNvPr>
              <p:cNvCxnSpPr>
                <a:cxnSpLocks/>
                <a:stCxn id="6" idx="2"/>
                <a:endCxn id="20" idx="0"/>
              </p:cNvCxnSpPr>
              <p:nvPr/>
            </p:nvCxnSpPr>
            <p:spPr>
              <a:xfrm flipH="1">
                <a:off x="7399941" y="2143790"/>
                <a:ext cx="1902919" cy="3250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21" name="arrow">
                <a:extLst>
                  <a:ext uri="{FF2B5EF4-FFF2-40B4-BE49-F238E27FC236}">
                    <a16:creationId xmlns:a16="http://schemas.microsoft.com/office/drawing/2014/main" id="{E23BC1C1-8356-A642-3650-3E915C487D6D}"/>
                  </a:ext>
                </a:extLst>
              </p:cNvPr>
              <p:cNvCxnSpPr>
                <a:cxnSpLocks/>
                <a:stCxn id="16" idx="3"/>
                <a:endCxn id="6" idx="1"/>
              </p:cNvCxnSpPr>
              <p:nvPr/>
            </p:nvCxnSpPr>
            <p:spPr>
              <a:xfrm>
                <a:off x="8274882" y="1837881"/>
                <a:ext cx="316638" cy="28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36" name="arrow">
                <a:extLst>
                  <a:ext uri="{FF2B5EF4-FFF2-40B4-BE49-F238E27FC236}">
                    <a16:creationId xmlns:a16="http://schemas.microsoft.com/office/drawing/2014/main" id="{8DEE24F5-9B49-5967-C652-64BD5CA8F810}"/>
                  </a:ext>
                </a:extLst>
              </p:cNvPr>
              <p:cNvCxnSpPr>
                <a:cxnSpLocks/>
                <a:stCxn id="8" idx="3"/>
                <a:endCxn id="9993" idx="1"/>
              </p:cNvCxnSpPr>
              <p:nvPr/>
            </p:nvCxnSpPr>
            <p:spPr>
              <a:xfrm>
                <a:off x="10005981" y="2807450"/>
                <a:ext cx="267738" cy="32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cxnSp>
            <p:nvCxnSpPr>
              <p:cNvPr id="38" name="arrow">
                <a:extLst>
                  <a:ext uri="{FF2B5EF4-FFF2-40B4-BE49-F238E27FC236}">
                    <a16:creationId xmlns:a16="http://schemas.microsoft.com/office/drawing/2014/main" id="{D7199303-4C4C-0239-BBE6-69EEA1702A03}"/>
                  </a:ext>
                </a:extLst>
              </p:cNvPr>
              <p:cNvCxnSpPr>
                <a:cxnSpLocks/>
                <a:stCxn id="6" idx="3"/>
                <a:endCxn id="9993" idx="0"/>
              </p:cNvCxnSpPr>
              <p:nvPr/>
            </p:nvCxnSpPr>
            <p:spPr>
              <a:xfrm>
                <a:off x="10014199" y="1840764"/>
                <a:ext cx="1128200" cy="64070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  <p:sp>
            <p:nvSpPr>
              <p:cNvPr id="9993" name="Rectangle 17">
                <a:extLst>
                  <a:ext uri="{FF2B5EF4-FFF2-40B4-BE49-F238E27FC236}">
                    <a16:creationId xmlns:a16="http://schemas.microsoft.com/office/drawing/2014/main" id="{3D36F642-FD23-56DB-B77B-37C161B60D1D}"/>
                  </a:ext>
                </a:extLst>
              </p:cNvPr>
              <p:cNvSpPr/>
              <p:nvPr/>
            </p:nvSpPr>
            <p:spPr>
              <a:xfrm>
                <a:off x="10273719" y="2481470"/>
                <a:ext cx="1737360" cy="658368"/>
              </a:xfrm>
              <a:prstGeom prst="roundRect">
                <a:avLst>
                  <a:gd name="adj" fmla="val 20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i="0" dirty="0">
                    <a:solidFill>
                      <a:srgbClr val="111111"/>
                    </a:solidFill>
                  </a:rPr>
                  <a:t>Coding Agent</a:t>
                </a:r>
                <a:endParaRPr sz="1600" b="1" i="0" dirty="0">
                  <a:solidFill>
                    <a:srgbClr val="111111"/>
                  </a:solidFill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1" dirty="0">
                    <a:solidFill>
                      <a:srgbClr val="444444"/>
                    </a:solidFill>
                  </a:rPr>
                  <a:t>IBM Bob</a:t>
                </a:r>
                <a:endParaRPr sz="1200" b="0" i="1" dirty="0">
                  <a:solidFill>
                    <a:srgbClr val="444444"/>
                  </a:solidFill>
                </a:endParaRPr>
              </a:p>
            </p:txBody>
          </p:sp>
          <p:cxnSp>
            <p:nvCxnSpPr>
              <p:cNvPr id="10015" name="arrow">
                <a:extLst>
                  <a:ext uri="{FF2B5EF4-FFF2-40B4-BE49-F238E27FC236}">
                    <a16:creationId xmlns:a16="http://schemas.microsoft.com/office/drawing/2014/main" id="{BA72FF26-64CC-D61E-2A54-EA28D57B6DE1}"/>
                  </a:ext>
                </a:extLst>
              </p:cNvPr>
              <p:cNvCxnSpPr>
                <a:cxnSpLocks/>
                <a:stCxn id="9993" idx="2"/>
              </p:cNvCxnSpPr>
              <p:nvPr/>
            </p:nvCxnSpPr>
            <p:spPr>
              <a:xfrm>
                <a:off x="11142399" y="3139838"/>
                <a:ext cx="0" cy="13310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tailEnd type="arrow" w="med" len="med"/>
              </a:ln>
            </p:spPr>
          </p:cxnSp>
        </p:grpSp>
        <p:pic>
          <p:nvPicPr>
            <p:cNvPr id="12" name="Graphic 11" descr="Badge 1 with solid fill">
              <a:extLst>
                <a:ext uri="{FF2B5EF4-FFF2-40B4-BE49-F238E27FC236}">
                  <a16:creationId xmlns:a16="http://schemas.microsoft.com/office/drawing/2014/main" id="{4467446C-192C-0898-81F2-C4BE48C980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07555" y="1170992"/>
              <a:ext cx="299117" cy="299117"/>
            </a:xfrm>
            <a:prstGeom prst="rect">
              <a:avLst/>
            </a:prstGeom>
          </p:spPr>
        </p:pic>
        <p:pic>
          <p:nvPicPr>
            <p:cNvPr id="24" name="Graphic 23" descr="Badge with solid fill">
              <a:extLst>
                <a:ext uri="{FF2B5EF4-FFF2-40B4-BE49-F238E27FC236}">
                  <a16:creationId xmlns:a16="http://schemas.microsoft.com/office/drawing/2014/main" id="{1FBFF4A9-750F-7585-B3F1-5021547BAF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30812" y="3109212"/>
              <a:ext cx="298800" cy="298800"/>
            </a:xfrm>
            <a:prstGeom prst="rect">
              <a:avLst/>
            </a:prstGeom>
          </p:spPr>
        </p:pic>
        <p:pic>
          <p:nvPicPr>
            <p:cNvPr id="31" name="Graphic 30" descr="Badge 3 with solid fill">
              <a:extLst>
                <a:ext uri="{FF2B5EF4-FFF2-40B4-BE49-F238E27FC236}">
                  <a16:creationId xmlns:a16="http://schemas.microsoft.com/office/drawing/2014/main" id="{BA0665CB-DCBB-F92F-F5F0-2E9A1E8059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32461" y="782450"/>
              <a:ext cx="298800" cy="298800"/>
            </a:xfrm>
            <a:prstGeom prst="rect">
              <a:avLst/>
            </a:prstGeom>
          </p:spPr>
        </p:pic>
        <p:pic>
          <p:nvPicPr>
            <p:cNvPr id="33" name="Graphic 32" descr="Badge 4 with solid fill">
              <a:extLst>
                <a:ext uri="{FF2B5EF4-FFF2-40B4-BE49-F238E27FC236}">
                  <a16:creationId xmlns:a16="http://schemas.microsoft.com/office/drawing/2014/main" id="{138C9773-BF32-464B-1790-054BF1D05F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24429" y="2319039"/>
              <a:ext cx="298800" cy="298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97</Words>
  <Application>Microsoft Macintosh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LIOR LIMONAD</cp:lastModifiedBy>
  <cp:revision>9</cp:revision>
  <dcterms:created xsi:type="dcterms:W3CDTF">2013-01-27T09:14:16Z</dcterms:created>
  <dcterms:modified xsi:type="dcterms:W3CDTF">2026-05-17T08:57:08Z</dcterms:modified>
  <cp:category/>
</cp:coreProperties>
</file>